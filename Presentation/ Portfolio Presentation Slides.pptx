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Rubik One" charset="1" panose="02000604000000020004"/>
      <p:regular r:id="rId14"/>
    </p:embeddedFont>
    <p:embeddedFont>
      <p:font typeface="Poppins Bold" charset="1" panose="00000800000000000000"/>
      <p:regular r:id="rId15"/>
    </p:embeddedFont>
    <p:embeddedFont>
      <p:font typeface="Poppins"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053991"/>
            <a:ext cx="11992996" cy="6121862"/>
          </a:xfrm>
          <a:prstGeom prst="rect">
            <a:avLst/>
          </a:prstGeom>
        </p:spPr>
        <p:txBody>
          <a:bodyPr anchor="t" rtlCol="false" tIns="0" lIns="0" bIns="0" rIns="0">
            <a:spAutoFit/>
          </a:bodyPr>
          <a:lstStyle/>
          <a:p>
            <a:pPr algn="l">
              <a:lnSpc>
                <a:spcPts val="22464"/>
              </a:lnSpc>
            </a:pPr>
            <a:r>
              <a:rPr lang="en-US" sz="29952" spc="-1797">
                <a:solidFill>
                  <a:srgbClr val="479E55"/>
                </a:solidFill>
                <a:latin typeface="Rubik One"/>
                <a:ea typeface="Rubik One"/>
                <a:cs typeface="Rubik One"/>
                <a:sym typeface="Rubik One"/>
              </a:rPr>
              <a:t>PORTFOLIO</a:t>
            </a:r>
          </a:p>
        </p:txBody>
      </p:sp>
      <p:sp>
        <p:nvSpPr>
          <p:cNvPr name="Freeform 3" id="3"/>
          <p:cNvSpPr/>
          <p:nvPr/>
        </p:nvSpPr>
        <p:spPr>
          <a:xfrm flipH="false" flipV="false" rot="0">
            <a:off x="9948647" y="1645648"/>
            <a:ext cx="7310653" cy="6995703"/>
          </a:xfrm>
          <a:custGeom>
            <a:avLst/>
            <a:gdLst/>
            <a:ahLst/>
            <a:cxnLst/>
            <a:rect r="r" b="b" t="t" l="l"/>
            <a:pathLst>
              <a:path h="6995703" w="7310653">
                <a:moveTo>
                  <a:pt x="0" y="0"/>
                </a:moveTo>
                <a:lnTo>
                  <a:pt x="7310653" y="0"/>
                </a:lnTo>
                <a:lnTo>
                  <a:pt x="7310653" y="6995704"/>
                </a:lnTo>
                <a:lnTo>
                  <a:pt x="0" y="6995704"/>
                </a:lnTo>
                <a:lnTo>
                  <a:pt x="0" y="0"/>
                </a:lnTo>
                <a:close/>
              </a:path>
            </a:pathLst>
          </a:custGeom>
          <a:blipFill>
            <a:blip r:embed="rId2"/>
            <a:stretch>
              <a:fillRect l="0" t="0" r="0" b="0"/>
            </a:stretch>
          </a:blipFill>
        </p:spPr>
      </p:sp>
      <p:sp>
        <p:nvSpPr>
          <p:cNvPr name="TextBox 4" id="4"/>
          <p:cNvSpPr txBox="true"/>
          <p:nvPr/>
        </p:nvSpPr>
        <p:spPr>
          <a:xfrm rot="0">
            <a:off x="1286373" y="7435301"/>
            <a:ext cx="7444143" cy="391795"/>
          </a:xfrm>
          <a:prstGeom prst="rect">
            <a:avLst/>
          </a:prstGeom>
        </p:spPr>
        <p:txBody>
          <a:bodyPr anchor="t" rtlCol="false" tIns="0" lIns="0" bIns="0" rIns="0">
            <a:spAutoFit/>
          </a:bodyPr>
          <a:lstStyle/>
          <a:p>
            <a:pPr algn="l">
              <a:lnSpc>
                <a:spcPts val="3080"/>
              </a:lnSpc>
              <a:spcBef>
                <a:spcPct val="0"/>
              </a:spcBef>
            </a:pPr>
            <a:r>
              <a:rPr lang="en-US" b="true" sz="2200">
                <a:solidFill>
                  <a:srgbClr val="479E55"/>
                </a:solidFill>
                <a:latin typeface="Poppins Bold"/>
                <a:ea typeface="Poppins Bold"/>
                <a:cs typeface="Poppins Bold"/>
                <a:sym typeface="Poppins Bold"/>
              </a:rPr>
              <a:t>WEBSITE TO BE USED IN INTERNSHIPS AND JOBS</a:t>
            </a:r>
          </a:p>
        </p:txBody>
      </p:sp>
      <p:sp>
        <p:nvSpPr>
          <p:cNvPr name="TextBox 5" id="5"/>
          <p:cNvSpPr txBox="true"/>
          <p:nvPr/>
        </p:nvSpPr>
        <p:spPr>
          <a:xfrm rot="0">
            <a:off x="1286373" y="7951380"/>
            <a:ext cx="3440294" cy="391795"/>
          </a:xfrm>
          <a:prstGeom prst="rect">
            <a:avLst/>
          </a:prstGeom>
        </p:spPr>
        <p:txBody>
          <a:bodyPr anchor="t" rtlCol="false" tIns="0" lIns="0" bIns="0" rIns="0">
            <a:spAutoFit/>
          </a:bodyPr>
          <a:lstStyle/>
          <a:p>
            <a:pPr algn="l">
              <a:lnSpc>
                <a:spcPts val="3080"/>
              </a:lnSpc>
              <a:spcBef>
                <a:spcPct val="0"/>
              </a:spcBef>
            </a:pPr>
            <a:r>
              <a:rPr lang="en-US" b="true" sz="2200">
                <a:solidFill>
                  <a:srgbClr val="479E55"/>
                </a:solidFill>
                <a:latin typeface="Poppins Bold"/>
                <a:ea typeface="Poppins Bold"/>
                <a:cs typeface="Poppins Bold"/>
                <a:sym typeface="Poppins Bold"/>
              </a:rPr>
              <a:t>RAGHAD ALMAGHRABI</a:t>
            </a:r>
          </a:p>
        </p:txBody>
      </p:sp>
      <p:sp>
        <p:nvSpPr>
          <p:cNvPr name="TextBox 6" id="6"/>
          <p:cNvSpPr txBox="true"/>
          <p:nvPr/>
        </p:nvSpPr>
        <p:spPr>
          <a:xfrm rot="0">
            <a:off x="1286373" y="971550"/>
            <a:ext cx="3440294" cy="391795"/>
          </a:xfrm>
          <a:prstGeom prst="rect">
            <a:avLst/>
          </a:prstGeom>
        </p:spPr>
        <p:txBody>
          <a:bodyPr anchor="t" rtlCol="false" tIns="0" lIns="0" bIns="0" rIns="0">
            <a:spAutoFit/>
          </a:bodyPr>
          <a:lstStyle/>
          <a:p>
            <a:pPr algn="l">
              <a:lnSpc>
                <a:spcPts val="3080"/>
              </a:lnSpc>
              <a:spcBef>
                <a:spcPct val="0"/>
              </a:spcBef>
            </a:pPr>
            <a:r>
              <a:rPr lang="en-US" b="true" sz="2200">
                <a:solidFill>
                  <a:srgbClr val="479E55"/>
                </a:solidFill>
                <a:latin typeface="Poppins Bold"/>
                <a:ea typeface="Poppins Bold"/>
                <a:cs typeface="Poppins Bold"/>
                <a:sym typeface="Poppins Bold"/>
              </a:rPr>
              <a:t>A REAL</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479E55"/>
        </a:solidFill>
      </p:bgPr>
    </p:bg>
    <p:spTree>
      <p:nvGrpSpPr>
        <p:cNvPr id="1" name=""/>
        <p:cNvGrpSpPr/>
        <p:nvPr/>
      </p:nvGrpSpPr>
      <p:grpSpPr>
        <a:xfrm>
          <a:off x="0" y="0"/>
          <a:ext cx="0" cy="0"/>
          <a:chOff x="0" y="0"/>
          <a:chExt cx="0" cy="0"/>
        </a:xfrm>
      </p:grpSpPr>
      <p:sp>
        <p:nvSpPr>
          <p:cNvPr name="TextBox 2" id="2"/>
          <p:cNvSpPr txBox="true"/>
          <p:nvPr/>
        </p:nvSpPr>
        <p:spPr>
          <a:xfrm rot="0">
            <a:off x="2432082" y="2705552"/>
            <a:ext cx="12947473" cy="1755235"/>
          </a:xfrm>
          <a:prstGeom prst="rect">
            <a:avLst/>
          </a:prstGeom>
        </p:spPr>
        <p:txBody>
          <a:bodyPr anchor="t" rtlCol="false" tIns="0" lIns="0" bIns="0" rIns="0">
            <a:spAutoFit/>
          </a:bodyPr>
          <a:lstStyle/>
          <a:p>
            <a:pPr algn="ctr">
              <a:lnSpc>
                <a:spcPts val="12034"/>
              </a:lnSpc>
            </a:pPr>
            <a:r>
              <a:rPr lang="en-US" sz="16046" spc="-962">
                <a:solidFill>
                  <a:srgbClr val="FEFAE0"/>
                </a:solidFill>
                <a:latin typeface="Rubik One"/>
                <a:ea typeface="Rubik One"/>
                <a:cs typeface="Rubik One"/>
                <a:sym typeface="Rubik One"/>
              </a:rPr>
              <a:t>OVERVIEW</a:t>
            </a:r>
          </a:p>
        </p:txBody>
      </p:sp>
      <p:sp>
        <p:nvSpPr>
          <p:cNvPr name="TextBox 3" id="3"/>
          <p:cNvSpPr txBox="true"/>
          <p:nvPr/>
        </p:nvSpPr>
        <p:spPr>
          <a:xfrm rot="0">
            <a:off x="2579662" y="5195751"/>
            <a:ext cx="3861066" cy="1719828"/>
          </a:xfrm>
          <a:prstGeom prst="rect">
            <a:avLst/>
          </a:prstGeom>
        </p:spPr>
        <p:txBody>
          <a:bodyPr anchor="t" rtlCol="false" tIns="0" lIns="0" bIns="0" rIns="0">
            <a:spAutoFit/>
          </a:bodyPr>
          <a:lstStyle/>
          <a:p>
            <a:pPr algn="just">
              <a:lnSpc>
                <a:spcPts val="3381"/>
              </a:lnSpc>
              <a:spcBef>
                <a:spcPct val="0"/>
              </a:spcBef>
            </a:pPr>
            <a:r>
              <a:rPr lang="en-US" b="true" sz="2415">
                <a:solidFill>
                  <a:srgbClr val="FEFAE0"/>
                </a:solidFill>
                <a:latin typeface="Poppins Bold"/>
                <a:ea typeface="Poppins Bold"/>
                <a:cs typeface="Poppins Bold"/>
                <a:sym typeface="Poppins Bold"/>
              </a:rPr>
              <a:t>A PERSONAL PORTFOLIO WEBSITE BUILT FROM SCRATCH USING HTML, CSS, AND JAVASCRIPT.</a:t>
            </a:r>
          </a:p>
        </p:txBody>
      </p:sp>
      <p:sp>
        <p:nvSpPr>
          <p:cNvPr name="TextBox 4" id="4"/>
          <p:cNvSpPr txBox="true"/>
          <p:nvPr/>
        </p:nvSpPr>
        <p:spPr>
          <a:xfrm rot="0">
            <a:off x="11459025" y="5195751"/>
            <a:ext cx="3920529" cy="2148453"/>
          </a:xfrm>
          <a:prstGeom prst="rect">
            <a:avLst/>
          </a:prstGeom>
        </p:spPr>
        <p:txBody>
          <a:bodyPr anchor="t" rtlCol="false" tIns="0" lIns="0" bIns="0" rIns="0">
            <a:spAutoFit/>
          </a:bodyPr>
          <a:lstStyle/>
          <a:p>
            <a:pPr algn="just">
              <a:lnSpc>
                <a:spcPts val="3381"/>
              </a:lnSpc>
              <a:spcBef>
                <a:spcPct val="0"/>
              </a:spcBef>
            </a:pPr>
            <a:r>
              <a:rPr lang="en-US" b="true" sz="2415">
                <a:solidFill>
                  <a:srgbClr val="FEFAE0"/>
                </a:solidFill>
                <a:latin typeface="Poppins Bold"/>
                <a:ea typeface="Poppins Bold"/>
                <a:cs typeface="Poppins Bold"/>
                <a:sym typeface="Poppins Bold"/>
              </a:rPr>
              <a:t>INCLUD</a:t>
            </a:r>
            <a:r>
              <a:rPr lang="en-US" b="true" sz="2415">
                <a:solidFill>
                  <a:srgbClr val="FEFAE0"/>
                </a:solidFill>
                <a:latin typeface="Poppins Bold"/>
                <a:ea typeface="Poppins Bold"/>
                <a:cs typeface="Poppins Bold"/>
                <a:sym typeface="Poppins Bold"/>
              </a:rPr>
              <a:t>ES LIVE FEATURES LIKE THEME SWITCHING, WEATHER INTEGRATION, PROJECT FILTERING, AND A CONTACT FORM.</a:t>
            </a:r>
          </a:p>
        </p:txBody>
      </p:sp>
      <p:sp>
        <p:nvSpPr>
          <p:cNvPr name="TextBox 5" id="5"/>
          <p:cNvSpPr txBox="true"/>
          <p:nvPr/>
        </p:nvSpPr>
        <p:spPr>
          <a:xfrm rot="0">
            <a:off x="6781162" y="5195751"/>
            <a:ext cx="4337429" cy="1719828"/>
          </a:xfrm>
          <a:prstGeom prst="rect">
            <a:avLst/>
          </a:prstGeom>
        </p:spPr>
        <p:txBody>
          <a:bodyPr anchor="t" rtlCol="false" tIns="0" lIns="0" bIns="0" rIns="0">
            <a:spAutoFit/>
          </a:bodyPr>
          <a:lstStyle/>
          <a:p>
            <a:pPr algn="just">
              <a:lnSpc>
                <a:spcPts val="3381"/>
              </a:lnSpc>
              <a:spcBef>
                <a:spcPct val="0"/>
              </a:spcBef>
            </a:pPr>
            <a:r>
              <a:rPr lang="en-US" b="true" sz="2415">
                <a:solidFill>
                  <a:srgbClr val="FEFAE0"/>
                </a:solidFill>
                <a:latin typeface="Poppins Bold"/>
                <a:ea typeface="Poppins Bold"/>
                <a:cs typeface="Poppins Bold"/>
                <a:sym typeface="Poppins Bold"/>
              </a:rPr>
              <a:t>SHOWCASES MY PROJECTS, SKILLS, AND CONTACT INFORMATION IN ONE INTERACTIVE EXPERIENCE.</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EFAE0"/>
        </a:solidFill>
      </p:bgPr>
    </p:bg>
    <p:spTree>
      <p:nvGrpSpPr>
        <p:cNvPr id="1" name=""/>
        <p:cNvGrpSpPr/>
        <p:nvPr/>
      </p:nvGrpSpPr>
      <p:grpSpPr>
        <a:xfrm>
          <a:off x="0" y="0"/>
          <a:ext cx="0" cy="0"/>
          <a:chOff x="0" y="0"/>
          <a:chExt cx="0" cy="0"/>
        </a:xfrm>
      </p:grpSpPr>
      <p:sp>
        <p:nvSpPr>
          <p:cNvPr name="TextBox 2" id="2"/>
          <p:cNvSpPr txBox="true"/>
          <p:nvPr/>
        </p:nvSpPr>
        <p:spPr>
          <a:xfrm rot="0">
            <a:off x="8265440" y="1790700"/>
            <a:ext cx="8993860" cy="3600598"/>
          </a:xfrm>
          <a:prstGeom prst="rect">
            <a:avLst/>
          </a:prstGeom>
        </p:spPr>
        <p:txBody>
          <a:bodyPr anchor="t" rtlCol="false" tIns="0" lIns="0" bIns="0" rIns="0">
            <a:spAutoFit/>
          </a:bodyPr>
          <a:lstStyle/>
          <a:p>
            <a:pPr algn="l">
              <a:lnSpc>
                <a:spcPts val="13251"/>
              </a:lnSpc>
            </a:pPr>
            <a:r>
              <a:rPr lang="en-US" sz="17669" spc="-1060">
                <a:solidFill>
                  <a:srgbClr val="479E55"/>
                </a:solidFill>
                <a:latin typeface="Rubik One"/>
                <a:ea typeface="Rubik One"/>
                <a:cs typeface="Rubik One"/>
                <a:sym typeface="Rubik One"/>
              </a:rPr>
              <a:t>ARCHITECTURE</a:t>
            </a:r>
          </a:p>
        </p:txBody>
      </p:sp>
      <p:sp>
        <p:nvSpPr>
          <p:cNvPr name="TextBox 3" id="3"/>
          <p:cNvSpPr txBox="true"/>
          <p:nvPr/>
        </p:nvSpPr>
        <p:spPr>
          <a:xfrm rot="0">
            <a:off x="1028700" y="2258447"/>
            <a:ext cx="12462610" cy="6999853"/>
          </a:xfrm>
          <a:prstGeom prst="rect">
            <a:avLst/>
          </a:prstGeom>
        </p:spPr>
        <p:txBody>
          <a:bodyPr anchor="t" rtlCol="false" tIns="0" lIns="0" bIns="0" rIns="0">
            <a:spAutoFit/>
          </a:bodyPr>
          <a:lstStyle/>
          <a:p>
            <a:pPr algn="l">
              <a:lnSpc>
                <a:spcPts val="2681"/>
              </a:lnSpc>
              <a:spcBef>
                <a:spcPct val="0"/>
              </a:spcBef>
            </a:pPr>
          </a:p>
          <a:p>
            <a:pPr algn="l">
              <a:lnSpc>
                <a:spcPts val="2681"/>
              </a:lnSpc>
              <a:spcBef>
                <a:spcPct val="0"/>
              </a:spcBef>
            </a:pPr>
            <a:r>
              <a:rPr lang="en-US" b="true" sz="1915">
                <a:solidFill>
                  <a:srgbClr val="479E55"/>
                </a:solidFill>
                <a:latin typeface="Poppins Bold"/>
                <a:ea typeface="Poppins Bold"/>
                <a:cs typeface="Poppins Bold"/>
                <a:sym typeface="Poppins Bold"/>
              </a:rPr>
              <a:t>ASSIGNMENT-3/</a:t>
            </a:r>
          </a:p>
          <a:p>
            <a:pPr algn="l">
              <a:lnSpc>
                <a:spcPts val="2681"/>
              </a:lnSpc>
              <a:spcBef>
                <a:spcPct val="0"/>
              </a:spcBef>
            </a:pPr>
            <a:r>
              <a:rPr lang="en-US" b="true" sz="1915">
                <a:solidFill>
                  <a:srgbClr val="479E55"/>
                </a:solidFill>
                <a:latin typeface="Poppins Bold"/>
                <a:ea typeface="Poppins Bold"/>
                <a:cs typeface="Poppins Bold"/>
                <a:sym typeface="Poppins Bold"/>
              </a:rPr>
              <a:t>├── INDEX.HTML               </a:t>
            </a:r>
            <a:r>
              <a:rPr lang="en-US" b="true" sz="1915">
                <a:solidFill>
                  <a:srgbClr val="0B0B0B"/>
                </a:solidFill>
                <a:latin typeface="Poppins Bold"/>
                <a:ea typeface="Poppins Bold"/>
                <a:cs typeface="Poppins Bold"/>
                <a:sym typeface="Poppins Bold"/>
              </a:rPr>
              <a:t>  # MAIN HTML FILE </a:t>
            </a:r>
          </a:p>
          <a:p>
            <a:pPr algn="l">
              <a:lnSpc>
                <a:spcPts val="2681"/>
              </a:lnSpc>
              <a:spcBef>
                <a:spcPct val="0"/>
              </a:spcBef>
            </a:pPr>
            <a:r>
              <a:rPr lang="en-US" b="true" sz="1915">
                <a:solidFill>
                  <a:srgbClr val="479E55"/>
                </a:solidFill>
                <a:latin typeface="Poppins Bold"/>
                <a:ea typeface="Poppins Bold"/>
                <a:cs typeface="Poppins Bold"/>
                <a:sym typeface="Poppins Bold"/>
              </a:rPr>
              <a:t>├── CSS/</a:t>
            </a:r>
          </a:p>
          <a:p>
            <a:pPr algn="l">
              <a:lnSpc>
                <a:spcPts val="2681"/>
              </a:lnSpc>
              <a:spcBef>
                <a:spcPct val="0"/>
              </a:spcBef>
            </a:pPr>
            <a:r>
              <a:rPr lang="en-US" b="true" sz="1915">
                <a:solidFill>
                  <a:srgbClr val="479E55"/>
                </a:solidFill>
                <a:latin typeface="Poppins Bold"/>
                <a:ea typeface="Poppins Bold"/>
                <a:cs typeface="Poppins Bold"/>
                <a:sym typeface="Poppins Bold"/>
              </a:rPr>
              <a:t>│   └── STYLES.CSS             </a:t>
            </a:r>
            <a:r>
              <a:rPr lang="en-US" b="true" sz="1915">
                <a:solidFill>
                  <a:srgbClr val="0B0B0B"/>
                </a:solidFill>
                <a:latin typeface="Poppins Bold"/>
                <a:ea typeface="Poppins Bold"/>
                <a:cs typeface="Poppins Bold"/>
                <a:sym typeface="Poppins Bold"/>
              </a:rPr>
              <a:t># GLOBAL STYLES</a:t>
            </a:r>
          </a:p>
          <a:p>
            <a:pPr algn="l">
              <a:lnSpc>
                <a:spcPts val="2681"/>
              </a:lnSpc>
              <a:spcBef>
                <a:spcPct val="0"/>
              </a:spcBef>
            </a:pPr>
            <a:r>
              <a:rPr lang="en-US" b="true" sz="1915">
                <a:solidFill>
                  <a:srgbClr val="479E55"/>
                </a:solidFill>
                <a:latin typeface="Poppins Bold"/>
                <a:ea typeface="Poppins Bold"/>
                <a:cs typeface="Poppins Bold"/>
                <a:sym typeface="Poppins Bold"/>
              </a:rPr>
              <a:t>├── JS/</a:t>
            </a:r>
          </a:p>
          <a:p>
            <a:pPr algn="l">
              <a:lnSpc>
                <a:spcPts val="2681"/>
              </a:lnSpc>
              <a:spcBef>
                <a:spcPct val="0"/>
              </a:spcBef>
            </a:pPr>
            <a:r>
              <a:rPr lang="en-US" b="true" sz="1915">
                <a:solidFill>
                  <a:srgbClr val="479E55"/>
                </a:solidFill>
                <a:latin typeface="Poppins Bold"/>
                <a:ea typeface="Poppins Bold"/>
                <a:cs typeface="Poppins Bold"/>
                <a:sym typeface="Poppins Bold"/>
              </a:rPr>
              <a:t>│   └── SCRIPT.JS             </a:t>
            </a:r>
            <a:r>
              <a:rPr lang="en-US" b="true" sz="1915">
                <a:solidFill>
                  <a:srgbClr val="0B0B0B"/>
                </a:solidFill>
                <a:latin typeface="Poppins Bold"/>
                <a:ea typeface="Poppins Bold"/>
                <a:cs typeface="Poppins Bold"/>
                <a:sym typeface="Poppins Bold"/>
              </a:rPr>
              <a:t> # INTERACTIVE BEHAVIOUR </a:t>
            </a:r>
          </a:p>
          <a:p>
            <a:pPr algn="l">
              <a:lnSpc>
                <a:spcPts val="2681"/>
              </a:lnSpc>
              <a:spcBef>
                <a:spcPct val="0"/>
              </a:spcBef>
            </a:pPr>
            <a:r>
              <a:rPr lang="en-US" b="true" sz="1915">
                <a:solidFill>
                  <a:srgbClr val="479E55"/>
                </a:solidFill>
                <a:latin typeface="Poppins Bold"/>
                <a:ea typeface="Poppins Bold"/>
                <a:cs typeface="Poppins Bold"/>
                <a:sym typeface="Poppins Bold"/>
              </a:rPr>
              <a:t>├── ASSETS/</a:t>
            </a:r>
          </a:p>
          <a:p>
            <a:pPr algn="l">
              <a:lnSpc>
                <a:spcPts val="2681"/>
              </a:lnSpc>
              <a:spcBef>
                <a:spcPct val="0"/>
              </a:spcBef>
            </a:pPr>
            <a:r>
              <a:rPr lang="en-US" b="true" sz="1915">
                <a:solidFill>
                  <a:srgbClr val="479E55"/>
                </a:solidFill>
                <a:latin typeface="Poppins Bold"/>
                <a:ea typeface="Poppins Bold"/>
                <a:cs typeface="Poppins Bold"/>
                <a:sym typeface="Poppins Bold"/>
              </a:rPr>
              <a:t>│   └── IMAGES/</a:t>
            </a:r>
          </a:p>
          <a:p>
            <a:pPr algn="l">
              <a:lnSpc>
                <a:spcPts val="2681"/>
              </a:lnSpc>
              <a:spcBef>
                <a:spcPct val="0"/>
              </a:spcBef>
            </a:pPr>
            <a:r>
              <a:rPr lang="en-US" b="true" sz="1915">
                <a:solidFill>
                  <a:srgbClr val="479E55"/>
                </a:solidFill>
                <a:latin typeface="Poppins Bold"/>
                <a:ea typeface="Poppins Bold"/>
                <a:cs typeface="Poppins Bold"/>
                <a:sym typeface="Poppins Bold"/>
              </a:rPr>
              <a:t>│       ├── RAGHAD.PNG         </a:t>
            </a:r>
            <a:r>
              <a:rPr lang="en-US" b="true" sz="1915">
                <a:solidFill>
                  <a:srgbClr val="0B0B0B"/>
                </a:solidFill>
                <a:latin typeface="Poppins Bold"/>
                <a:ea typeface="Poppins Bold"/>
                <a:cs typeface="Poppins Bold"/>
                <a:sym typeface="Poppins Bold"/>
              </a:rPr>
              <a:t># HERO/PROFILE IMAGE</a:t>
            </a:r>
          </a:p>
          <a:p>
            <a:pPr algn="l">
              <a:lnSpc>
                <a:spcPts val="2681"/>
              </a:lnSpc>
              <a:spcBef>
                <a:spcPct val="0"/>
              </a:spcBef>
            </a:pPr>
            <a:r>
              <a:rPr lang="en-US" b="true" sz="1915">
                <a:solidFill>
                  <a:srgbClr val="479E55"/>
                </a:solidFill>
                <a:latin typeface="Poppins Bold"/>
                <a:ea typeface="Poppins Bold"/>
                <a:cs typeface="Poppins Bold"/>
                <a:sym typeface="Poppins Bold"/>
              </a:rPr>
              <a:t>│       ├── SUBJECT2.PNG       </a:t>
            </a:r>
            <a:r>
              <a:rPr lang="en-US" b="true" sz="1915">
                <a:solidFill>
                  <a:srgbClr val="0B0B0B"/>
                </a:solidFill>
                <a:latin typeface="Poppins Bold"/>
                <a:ea typeface="Poppins Bold"/>
                <a:cs typeface="Poppins Bold"/>
                <a:sym typeface="Poppins Bold"/>
              </a:rPr>
              <a:t># PROJECT PREVIEW IMAGE</a:t>
            </a:r>
          </a:p>
          <a:p>
            <a:pPr algn="l">
              <a:lnSpc>
                <a:spcPts val="2681"/>
              </a:lnSpc>
              <a:spcBef>
                <a:spcPct val="0"/>
              </a:spcBef>
            </a:pPr>
            <a:r>
              <a:rPr lang="en-US" b="true" sz="1915">
                <a:solidFill>
                  <a:srgbClr val="479E55"/>
                </a:solidFill>
                <a:latin typeface="Poppins Bold"/>
                <a:ea typeface="Poppins Bold"/>
                <a:cs typeface="Poppins Bold"/>
                <a:sym typeface="Poppins Bold"/>
              </a:rPr>
              <a:t>│       ├── SUBJECT3.PNG      </a:t>
            </a:r>
            <a:r>
              <a:rPr lang="en-US" b="true" sz="1915">
                <a:solidFill>
                  <a:srgbClr val="0B0B0B"/>
                </a:solidFill>
                <a:latin typeface="Poppins Bold"/>
                <a:ea typeface="Poppins Bold"/>
                <a:cs typeface="Poppins Bold"/>
                <a:sym typeface="Poppins Bold"/>
              </a:rPr>
              <a:t> # PROJECT PREVIEW IMAGE</a:t>
            </a:r>
          </a:p>
          <a:p>
            <a:pPr algn="l">
              <a:lnSpc>
                <a:spcPts val="2681"/>
              </a:lnSpc>
              <a:spcBef>
                <a:spcPct val="0"/>
              </a:spcBef>
            </a:pPr>
            <a:r>
              <a:rPr lang="en-US" b="true" sz="1915">
                <a:solidFill>
                  <a:srgbClr val="479E55"/>
                </a:solidFill>
                <a:latin typeface="Poppins Bold"/>
                <a:ea typeface="Poppins Bold"/>
                <a:cs typeface="Poppins Bold"/>
                <a:sym typeface="Poppins Bold"/>
              </a:rPr>
              <a:t>│       └── SUBJECT4.PNG       #</a:t>
            </a:r>
            <a:r>
              <a:rPr lang="en-US" b="true" sz="1915">
                <a:solidFill>
                  <a:srgbClr val="0B0B0B"/>
                </a:solidFill>
                <a:latin typeface="Poppins Bold"/>
                <a:ea typeface="Poppins Bold"/>
                <a:cs typeface="Poppins Bold"/>
                <a:sym typeface="Poppins Bold"/>
              </a:rPr>
              <a:t> PROJECT PREVIEW IMAGE</a:t>
            </a:r>
          </a:p>
          <a:p>
            <a:pPr algn="l">
              <a:lnSpc>
                <a:spcPts val="2681"/>
              </a:lnSpc>
              <a:spcBef>
                <a:spcPct val="0"/>
              </a:spcBef>
            </a:pPr>
            <a:r>
              <a:rPr lang="en-US" b="true" sz="1915">
                <a:solidFill>
                  <a:srgbClr val="479E55"/>
                </a:solidFill>
                <a:latin typeface="Poppins Bold"/>
                <a:ea typeface="Poppins Bold"/>
                <a:cs typeface="Poppins Bold"/>
                <a:sym typeface="Poppins Bold"/>
              </a:rPr>
              <a:t>├── DOCS/</a:t>
            </a:r>
          </a:p>
          <a:p>
            <a:pPr algn="l">
              <a:lnSpc>
                <a:spcPts val="2681"/>
              </a:lnSpc>
              <a:spcBef>
                <a:spcPct val="0"/>
              </a:spcBef>
            </a:pPr>
            <a:r>
              <a:rPr lang="en-US" b="true" sz="1915">
                <a:solidFill>
                  <a:srgbClr val="479E55"/>
                </a:solidFill>
                <a:latin typeface="Poppins Bold"/>
                <a:ea typeface="Poppins Bold"/>
                <a:cs typeface="Poppins Bold"/>
                <a:sym typeface="Poppins Bold"/>
              </a:rPr>
              <a:t>│   ├── AI-USAGE-REPORT.MD    </a:t>
            </a:r>
            <a:r>
              <a:rPr lang="en-US" b="true" sz="1915">
                <a:solidFill>
                  <a:srgbClr val="0B0B0B"/>
                </a:solidFill>
                <a:latin typeface="Poppins Bold"/>
                <a:ea typeface="Poppins Bold"/>
                <a:cs typeface="Poppins Bold"/>
                <a:sym typeface="Poppins Bold"/>
              </a:rPr>
              <a:t> # LOG OF AI TOOLS AND PROMPTS</a:t>
            </a:r>
          </a:p>
          <a:p>
            <a:pPr algn="l">
              <a:lnSpc>
                <a:spcPts val="2681"/>
              </a:lnSpc>
              <a:spcBef>
                <a:spcPct val="0"/>
              </a:spcBef>
            </a:pPr>
            <a:r>
              <a:rPr lang="en-US" b="true" sz="1915">
                <a:solidFill>
                  <a:srgbClr val="479E55"/>
                </a:solidFill>
                <a:latin typeface="Poppins Bold"/>
                <a:ea typeface="Poppins Bold"/>
                <a:cs typeface="Poppins Bold"/>
                <a:sym typeface="Poppins Bold"/>
              </a:rPr>
              <a:t>│   └── TECHNICAL-DOCUMENTATION.MD  </a:t>
            </a:r>
            <a:r>
              <a:rPr lang="en-US" b="true" sz="1915">
                <a:solidFill>
                  <a:srgbClr val="0B0B0B"/>
                </a:solidFill>
                <a:latin typeface="Poppins Bold"/>
                <a:ea typeface="Poppins Bold"/>
                <a:cs typeface="Poppins Bold"/>
                <a:sym typeface="Poppins Bold"/>
              </a:rPr>
              <a:t>#  FEATURE DOCUMENTATION</a:t>
            </a:r>
          </a:p>
          <a:p>
            <a:pPr algn="l">
              <a:lnSpc>
                <a:spcPts val="2681"/>
              </a:lnSpc>
              <a:spcBef>
                <a:spcPct val="0"/>
              </a:spcBef>
            </a:pPr>
            <a:r>
              <a:rPr lang="en-US" b="true" sz="1915">
                <a:solidFill>
                  <a:srgbClr val="479E55"/>
                </a:solidFill>
                <a:latin typeface="Poppins Bold"/>
                <a:ea typeface="Poppins Bold"/>
                <a:cs typeface="Poppins Bold"/>
                <a:sym typeface="Poppins Bold"/>
              </a:rPr>
              <a:t>├── .VSCODE/</a:t>
            </a:r>
          </a:p>
          <a:p>
            <a:pPr algn="l">
              <a:lnSpc>
                <a:spcPts val="2681"/>
              </a:lnSpc>
              <a:spcBef>
                <a:spcPct val="0"/>
              </a:spcBef>
            </a:pPr>
            <a:r>
              <a:rPr lang="en-US" b="true" sz="1915">
                <a:solidFill>
                  <a:srgbClr val="479E55"/>
                </a:solidFill>
                <a:latin typeface="Poppins Bold"/>
                <a:ea typeface="Poppins Bold"/>
                <a:cs typeface="Poppins Bold"/>
                <a:sym typeface="Poppins Bold"/>
              </a:rPr>
              <a:t>│   └── LAUNCH.JSON            </a:t>
            </a:r>
          </a:p>
          <a:p>
            <a:pPr algn="l">
              <a:lnSpc>
                <a:spcPts val="2681"/>
              </a:lnSpc>
              <a:spcBef>
                <a:spcPct val="0"/>
              </a:spcBef>
            </a:pPr>
            <a:r>
              <a:rPr lang="en-US" b="true" sz="1915">
                <a:solidFill>
                  <a:srgbClr val="479E55"/>
                </a:solidFill>
                <a:latin typeface="Poppins Bold"/>
                <a:ea typeface="Poppins Bold"/>
                <a:cs typeface="Poppins Bold"/>
                <a:sym typeface="Poppins Bold"/>
              </a:rPr>
              <a:t>├── .GITIGNORE                 </a:t>
            </a:r>
          </a:p>
          <a:p>
            <a:pPr algn="l">
              <a:lnSpc>
                <a:spcPts val="2681"/>
              </a:lnSpc>
              <a:spcBef>
                <a:spcPct val="0"/>
              </a:spcBef>
            </a:pPr>
            <a:r>
              <a:rPr lang="en-US" b="true" sz="1915">
                <a:solidFill>
                  <a:srgbClr val="479E55"/>
                </a:solidFill>
                <a:latin typeface="Poppins Bold"/>
                <a:ea typeface="Poppins Bold"/>
                <a:cs typeface="Poppins Bold"/>
                <a:sym typeface="Poppins Bold"/>
              </a:rPr>
              <a:t>├── PACKAGE-LOCK.JSON          </a:t>
            </a:r>
          </a:p>
          <a:p>
            <a:pPr algn="l">
              <a:lnSpc>
                <a:spcPts val="2681"/>
              </a:lnSpc>
              <a:spcBef>
                <a:spcPct val="0"/>
              </a:spcBef>
            </a:pPr>
            <a:r>
              <a:rPr lang="en-US" b="true" sz="1915">
                <a:solidFill>
                  <a:srgbClr val="479E55"/>
                </a:solidFill>
                <a:latin typeface="Poppins Bold"/>
                <a:ea typeface="Poppins Bold"/>
                <a:cs typeface="Poppins Bold"/>
                <a:sym typeface="Poppins Bold"/>
              </a:rPr>
              <a:t>└── README.MD                 </a:t>
            </a:r>
            <a:r>
              <a:rPr lang="en-US" b="true" sz="1915">
                <a:solidFill>
                  <a:srgbClr val="0B0B0B"/>
                </a:solidFill>
                <a:latin typeface="Poppins Bold"/>
                <a:ea typeface="Poppins Bold"/>
                <a:cs typeface="Poppins Bold"/>
                <a:sym typeface="Poppins Bold"/>
              </a:rPr>
              <a:t> # PROJECT OVERVIEW, SETUP, AND USAGE INSTRUCTIONS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0B0B"/>
        </a:solidFill>
      </p:bgPr>
    </p:bg>
    <p:spTree>
      <p:nvGrpSpPr>
        <p:cNvPr id="1" name=""/>
        <p:cNvGrpSpPr/>
        <p:nvPr/>
      </p:nvGrpSpPr>
      <p:grpSpPr>
        <a:xfrm>
          <a:off x="0" y="0"/>
          <a:ext cx="0" cy="0"/>
          <a:chOff x="0" y="0"/>
          <a:chExt cx="0" cy="0"/>
        </a:xfrm>
      </p:grpSpPr>
      <p:grpSp>
        <p:nvGrpSpPr>
          <p:cNvPr name="Group 2" id="2"/>
          <p:cNvGrpSpPr/>
          <p:nvPr/>
        </p:nvGrpSpPr>
        <p:grpSpPr>
          <a:xfrm rot="0">
            <a:off x="-5351679" y="-31022"/>
            <a:ext cx="11021052" cy="10318022"/>
            <a:chOff x="0" y="0"/>
            <a:chExt cx="2226235" cy="2084224"/>
          </a:xfrm>
        </p:grpSpPr>
        <p:sp>
          <p:nvSpPr>
            <p:cNvPr name="Freeform 3" id="3"/>
            <p:cNvSpPr/>
            <p:nvPr/>
          </p:nvSpPr>
          <p:spPr>
            <a:xfrm flipH="false" flipV="false" rot="0">
              <a:off x="0" y="0"/>
              <a:ext cx="2226235" cy="2084224"/>
            </a:xfrm>
            <a:custGeom>
              <a:avLst/>
              <a:gdLst/>
              <a:ahLst/>
              <a:cxnLst/>
              <a:rect r="r" b="b" t="t" l="l"/>
              <a:pathLst>
                <a:path h="2084224" w="2226235">
                  <a:moveTo>
                    <a:pt x="0" y="0"/>
                  </a:moveTo>
                  <a:lnTo>
                    <a:pt x="2226235" y="0"/>
                  </a:lnTo>
                  <a:lnTo>
                    <a:pt x="2226235" y="2084224"/>
                  </a:lnTo>
                  <a:lnTo>
                    <a:pt x="0" y="2084224"/>
                  </a:lnTo>
                  <a:close/>
                </a:path>
              </a:pathLst>
            </a:custGeom>
            <a:blipFill>
              <a:blip r:embed="rId2"/>
              <a:stretch>
                <a:fillRect l="0" t="-2769" r="0" b="-2769"/>
              </a:stretch>
            </a:blipFill>
          </p:spPr>
        </p:sp>
      </p:grpSp>
      <p:sp>
        <p:nvSpPr>
          <p:cNvPr name="TextBox 4" id="4"/>
          <p:cNvSpPr txBox="true"/>
          <p:nvPr/>
        </p:nvSpPr>
        <p:spPr>
          <a:xfrm rot="0">
            <a:off x="6361830" y="4582055"/>
            <a:ext cx="5201612" cy="2482849"/>
          </a:xfrm>
          <a:prstGeom prst="rect">
            <a:avLst/>
          </a:prstGeom>
        </p:spPr>
        <p:txBody>
          <a:bodyPr anchor="t" rtlCol="false" tIns="0" lIns="0" bIns="0" rIns="0">
            <a:spAutoFit/>
          </a:bodyPr>
          <a:lstStyle/>
          <a:p>
            <a:pPr algn="just">
              <a:lnSpc>
                <a:spcPts val="2800"/>
              </a:lnSpc>
              <a:spcBef>
                <a:spcPct val="0"/>
              </a:spcBef>
            </a:pPr>
            <a:r>
              <a:rPr lang="en-US" sz="2000">
                <a:solidFill>
                  <a:srgbClr val="FEFAE0"/>
                </a:solidFill>
                <a:latin typeface="Poppins"/>
                <a:ea typeface="Poppins"/>
                <a:cs typeface="Poppins"/>
                <a:sym typeface="Poppins"/>
              </a:rPr>
              <a:t>I US</a:t>
            </a:r>
            <a:r>
              <a:rPr lang="en-US" sz="2000">
                <a:solidFill>
                  <a:srgbClr val="FEFAE0"/>
                </a:solidFill>
                <a:latin typeface="Poppins"/>
                <a:ea typeface="Poppins"/>
                <a:cs typeface="Poppins"/>
                <a:sym typeface="Poppins"/>
              </a:rPr>
              <a:t>ED AI TOOLS AS CODING PARTNERS THROUGHOUT THIS PROJECT. MY MAIN TOOL WAS CHATGPT FOR BRAINSTORMING, REFACTORING JAVASCRIPT, AND CHECKING EDGE CASES. I ALSO USED GITHUB COPILOT FOR QUICK SUGGESTIONS INSIDE MY EDITOR.</a:t>
            </a:r>
          </a:p>
        </p:txBody>
      </p:sp>
      <p:sp>
        <p:nvSpPr>
          <p:cNvPr name="TextBox 5" id="5"/>
          <p:cNvSpPr txBox="true"/>
          <p:nvPr/>
        </p:nvSpPr>
        <p:spPr>
          <a:xfrm rot="0">
            <a:off x="12057688" y="4582055"/>
            <a:ext cx="5201612" cy="2482849"/>
          </a:xfrm>
          <a:prstGeom prst="rect">
            <a:avLst/>
          </a:prstGeom>
        </p:spPr>
        <p:txBody>
          <a:bodyPr anchor="t" rtlCol="false" tIns="0" lIns="0" bIns="0" rIns="0">
            <a:spAutoFit/>
          </a:bodyPr>
          <a:lstStyle/>
          <a:p>
            <a:pPr algn="just">
              <a:lnSpc>
                <a:spcPts val="2800"/>
              </a:lnSpc>
              <a:spcBef>
                <a:spcPct val="0"/>
              </a:spcBef>
            </a:pPr>
            <a:r>
              <a:rPr lang="en-US" sz="2000">
                <a:solidFill>
                  <a:srgbClr val="FEFAE0"/>
                </a:solidFill>
                <a:latin typeface="Poppins"/>
                <a:ea typeface="Poppins"/>
                <a:cs typeface="Poppins"/>
                <a:sym typeface="Poppins"/>
              </a:rPr>
              <a:t>AI HELPED MOST WITH THE PROJECT FILTERING LOGIC (SEARCH, TAG, LEVEL, SORTING) SO IT STAYED ROBUST WITHOUT BREAKING THE DOM. IT ALSO IMPROVED THE WEATHER API INTEGRATION, ESPECIALLY ERROR MESSAGES AND STATUS UPDATES.</a:t>
            </a:r>
          </a:p>
        </p:txBody>
      </p:sp>
      <p:sp>
        <p:nvSpPr>
          <p:cNvPr name="TextBox 6" id="6"/>
          <p:cNvSpPr txBox="true"/>
          <p:nvPr/>
        </p:nvSpPr>
        <p:spPr>
          <a:xfrm rot="0">
            <a:off x="6361830" y="7127876"/>
            <a:ext cx="5201612" cy="2130424"/>
          </a:xfrm>
          <a:prstGeom prst="rect">
            <a:avLst/>
          </a:prstGeom>
        </p:spPr>
        <p:txBody>
          <a:bodyPr anchor="t" rtlCol="false" tIns="0" lIns="0" bIns="0" rIns="0">
            <a:spAutoFit/>
          </a:bodyPr>
          <a:lstStyle/>
          <a:p>
            <a:pPr algn="just">
              <a:lnSpc>
                <a:spcPts val="2800"/>
              </a:lnSpc>
              <a:spcBef>
                <a:spcPct val="0"/>
              </a:spcBef>
            </a:pPr>
            <a:r>
              <a:rPr lang="en-US" sz="2000">
                <a:solidFill>
                  <a:srgbClr val="FEFAE0"/>
                </a:solidFill>
                <a:latin typeface="Poppins"/>
                <a:ea typeface="Poppins"/>
                <a:cs typeface="Poppins"/>
                <a:sym typeface="Poppins"/>
              </a:rPr>
              <a:t>F</a:t>
            </a:r>
            <a:r>
              <a:rPr lang="en-US" sz="2000">
                <a:solidFill>
                  <a:srgbClr val="FEFAE0"/>
                </a:solidFill>
                <a:latin typeface="Poppins"/>
                <a:ea typeface="Poppins"/>
                <a:cs typeface="Poppins"/>
                <a:sym typeface="Poppins"/>
              </a:rPr>
              <a:t>OR FORM VALIDATION AND USER FEEDBACK, AI HELPED ME COMPARE PATTERNS AND CHOOSE CLEAR, FRIENDLY MESSAGES. I ALSO USED IT TO POLISH THE WORDING OF SECTIONS LIKE ABOUT, SKILLS, AND OTHER UI TEXT.</a:t>
            </a:r>
          </a:p>
        </p:txBody>
      </p:sp>
      <p:sp>
        <p:nvSpPr>
          <p:cNvPr name="TextBox 7" id="7"/>
          <p:cNvSpPr txBox="true"/>
          <p:nvPr/>
        </p:nvSpPr>
        <p:spPr>
          <a:xfrm rot="0">
            <a:off x="12057688" y="7127876"/>
            <a:ext cx="5201612" cy="2130424"/>
          </a:xfrm>
          <a:prstGeom prst="rect">
            <a:avLst/>
          </a:prstGeom>
        </p:spPr>
        <p:txBody>
          <a:bodyPr anchor="t" rtlCol="false" tIns="0" lIns="0" bIns="0" rIns="0">
            <a:spAutoFit/>
          </a:bodyPr>
          <a:lstStyle/>
          <a:p>
            <a:pPr algn="just">
              <a:lnSpc>
                <a:spcPts val="2800"/>
              </a:lnSpc>
              <a:spcBef>
                <a:spcPct val="0"/>
              </a:spcBef>
            </a:pPr>
            <a:r>
              <a:rPr lang="en-US" sz="2000">
                <a:solidFill>
                  <a:srgbClr val="FEFAE0"/>
                </a:solidFill>
                <a:latin typeface="Poppins"/>
                <a:ea typeface="Poppins"/>
                <a:cs typeface="Poppins"/>
                <a:sym typeface="Poppins"/>
              </a:rPr>
              <a:t>F</a:t>
            </a:r>
            <a:r>
              <a:rPr lang="en-US" sz="2000">
                <a:solidFill>
                  <a:srgbClr val="FEFAE0"/>
                </a:solidFill>
                <a:latin typeface="Poppins"/>
                <a:ea typeface="Poppins"/>
                <a:cs typeface="Poppins"/>
                <a:sym typeface="Poppins"/>
              </a:rPr>
              <a:t>OR FORM VALIDATION AND USER FEEDBACK, AI HELPED ME COMPARE PATTERNS AND CHOOSE CLEAR, FRIENDLY MESSAGES. I ALSO USED IT TO POLISH THE WORDING OF SECTIONS LIKE ABOUT, SKILLS, AND OTHER UI TEXT.</a:t>
            </a:r>
          </a:p>
        </p:txBody>
      </p:sp>
      <p:sp>
        <p:nvSpPr>
          <p:cNvPr name="TextBox 8" id="8"/>
          <p:cNvSpPr txBox="true"/>
          <p:nvPr/>
        </p:nvSpPr>
        <p:spPr>
          <a:xfrm rot="0">
            <a:off x="1028700" y="1619250"/>
            <a:ext cx="15178604" cy="2806881"/>
          </a:xfrm>
          <a:prstGeom prst="rect">
            <a:avLst/>
          </a:prstGeom>
        </p:spPr>
        <p:txBody>
          <a:bodyPr anchor="t" rtlCol="false" tIns="0" lIns="0" bIns="0" rIns="0">
            <a:spAutoFit/>
          </a:bodyPr>
          <a:lstStyle/>
          <a:p>
            <a:pPr algn="l">
              <a:lnSpc>
                <a:spcPts val="10335"/>
              </a:lnSpc>
            </a:pPr>
            <a:r>
              <a:rPr lang="en-US" sz="13780" spc="-826">
                <a:solidFill>
                  <a:srgbClr val="FEFAE0"/>
                </a:solidFill>
                <a:latin typeface="Rubik One"/>
                <a:ea typeface="Rubik One"/>
                <a:cs typeface="Rubik One"/>
                <a:sym typeface="Rubik One"/>
              </a:rPr>
              <a:t>AI</a:t>
            </a:r>
          </a:p>
          <a:p>
            <a:pPr algn="l">
              <a:lnSpc>
                <a:spcPts val="10335"/>
              </a:lnSpc>
            </a:pPr>
            <a:r>
              <a:rPr lang="en-US" sz="13780" spc="-826">
                <a:solidFill>
                  <a:srgbClr val="FEFAE0"/>
                </a:solidFill>
                <a:latin typeface="Rubik One"/>
                <a:ea typeface="Rubik One"/>
                <a:cs typeface="Rubik One"/>
                <a:sym typeface="Rubik One"/>
              </a:rPr>
              <a:t>INTEGRATION</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04798"/>
            <a:ext cx="16230600" cy="2827020"/>
          </a:xfrm>
          <a:prstGeom prst="rect">
            <a:avLst/>
          </a:prstGeom>
        </p:spPr>
        <p:txBody>
          <a:bodyPr anchor="t" rtlCol="false" tIns="0" lIns="0" bIns="0" rIns="0">
            <a:spAutoFit/>
          </a:bodyPr>
          <a:lstStyle/>
          <a:p>
            <a:pPr algn="l">
              <a:lnSpc>
                <a:spcPts val="10350"/>
              </a:lnSpc>
            </a:pPr>
            <a:r>
              <a:rPr lang="en-US" sz="13800" spc="-828">
                <a:solidFill>
                  <a:srgbClr val="0B0B0B"/>
                </a:solidFill>
                <a:latin typeface="Rubik One"/>
                <a:ea typeface="Rubik One"/>
                <a:cs typeface="Rubik One"/>
                <a:sym typeface="Rubik One"/>
              </a:rPr>
              <a:t>CHALLENGES &amp; SOLUTIONS</a:t>
            </a:r>
          </a:p>
        </p:txBody>
      </p:sp>
      <p:sp>
        <p:nvSpPr>
          <p:cNvPr name="TextBox 3" id="3"/>
          <p:cNvSpPr txBox="true"/>
          <p:nvPr/>
        </p:nvSpPr>
        <p:spPr>
          <a:xfrm rot="0">
            <a:off x="2358703" y="4280788"/>
            <a:ext cx="5071587" cy="4704738"/>
          </a:xfrm>
          <a:prstGeom prst="rect">
            <a:avLst/>
          </a:prstGeom>
        </p:spPr>
        <p:txBody>
          <a:bodyPr anchor="t" rtlCol="false" tIns="0" lIns="0" bIns="0" rIns="0">
            <a:spAutoFit/>
          </a:bodyPr>
          <a:lstStyle/>
          <a:p>
            <a:pPr algn="just">
              <a:lnSpc>
                <a:spcPts val="3104"/>
              </a:lnSpc>
              <a:spcBef>
                <a:spcPct val="0"/>
              </a:spcBef>
            </a:pPr>
            <a:r>
              <a:rPr lang="en-US" sz="2217" spc="-133">
                <a:solidFill>
                  <a:srgbClr val="479E55"/>
                </a:solidFill>
                <a:latin typeface="Rubik One"/>
                <a:ea typeface="Rubik One"/>
                <a:cs typeface="Rubik One"/>
                <a:sym typeface="Rubik One"/>
              </a:rPr>
              <a:t>THE MAIN CHALLENGE WAS IMPLEMENTING PROJECT FILTERING AND SORTING IN A CLEAN WAY WHILE COMBINING SEARCH TEXT, TAG, EXPERIENCE LEVEL, AND SORT ORDER (BY DATE OR TITLE). MY FIRST ATTEMPTS CAUSED BUGS WHERE SOME PROJECT CARDS DISAPPEARED FROM THE DOM AFTER FILTERING, AND THE CODE WAS STARTING TO BECOME HARD TO MAINTAIN.</a:t>
            </a:r>
          </a:p>
        </p:txBody>
      </p:sp>
      <p:sp>
        <p:nvSpPr>
          <p:cNvPr name="TextBox 4" id="4"/>
          <p:cNvSpPr txBox="true"/>
          <p:nvPr/>
        </p:nvSpPr>
        <p:spPr>
          <a:xfrm rot="0">
            <a:off x="8933118" y="4280788"/>
            <a:ext cx="7093332" cy="4704738"/>
          </a:xfrm>
          <a:prstGeom prst="rect">
            <a:avLst/>
          </a:prstGeom>
        </p:spPr>
        <p:txBody>
          <a:bodyPr anchor="t" rtlCol="false" tIns="0" lIns="0" bIns="0" rIns="0">
            <a:spAutoFit/>
          </a:bodyPr>
          <a:lstStyle/>
          <a:p>
            <a:pPr algn="just">
              <a:lnSpc>
                <a:spcPts val="3104"/>
              </a:lnSpc>
              <a:spcBef>
                <a:spcPct val="0"/>
              </a:spcBef>
            </a:pPr>
            <a:r>
              <a:rPr lang="en-US" sz="2217" spc="-133">
                <a:solidFill>
                  <a:srgbClr val="479E55"/>
                </a:solidFill>
                <a:latin typeface="Rubik One"/>
                <a:ea typeface="Rubik One"/>
                <a:cs typeface="Rubik One"/>
                <a:sym typeface="Rubik One"/>
              </a:rPr>
              <a:t>THE SOLUTION WAS TO KEEP A STABLE ARRAY OF ALL PROJECT CARDS (ALLPROJECTCARDS) AND, ON EVERY CHANGE, RECOMPUTE WHICH CARDS MATCH. INSTEAD OF DELETING ELEMENTS, I JUST TOGGLE HIDDEN/.IS-HIDDEN, THEN SORT ONLY THE VISIBLE CARDS AND RE-APPEND THEM. SMALL HELPER FUNCTIONS LIKE VISIBLEBYQUERY, VISIBLEBYFILTER, VISIBLEBYLEVEL, AND SORTER() KEEP THE LOGIC ORGANIZED. THIS MAKES THE PROJECTS SECTION ROBUST—NO DISAPPEARING CARDS AND EASY TO EXTEND WITH NEW TAGS OR LEVELS.</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EFAE0"/>
        </a:solidFill>
      </p:bgPr>
    </p:bg>
    <p:spTree>
      <p:nvGrpSpPr>
        <p:cNvPr id="1" name=""/>
        <p:cNvGrpSpPr/>
        <p:nvPr/>
      </p:nvGrpSpPr>
      <p:grpSpPr>
        <a:xfrm>
          <a:off x="0" y="0"/>
          <a:ext cx="0" cy="0"/>
          <a:chOff x="0" y="0"/>
          <a:chExt cx="0" cy="0"/>
        </a:xfrm>
      </p:grpSpPr>
      <p:sp>
        <p:nvSpPr>
          <p:cNvPr name="TextBox 2" id="2"/>
          <p:cNvSpPr txBox="true"/>
          <p:nvPr/>
        </p:nvSpPr>
        <p:spPr>
          <a:xfrm rot="-5400000">
            <a:off x="-1409265" y="3724460"/>
            <a:ext cx="8240661" cy="2827020"/>
          </a:xfrm>
          <a:prstGeom prst="rect">
            <a:avLst/>
          </a:prstGeom>
        </p:spPr>
        <p:txBody>
          <a:bodyPr anchor="t" rtlCol="false" tIns="0" lIns="0" bIns="0" rIns="0">
            <a:spAutoFit/>
          </a:bodyPr>
          <a:lstStyle/>
          <a:p>
            <a:pPr algn="just">
              <a:lnSpc>
                <a:spcPts val="10350"/>
              </a:lnSpc>
            </a:pPr>
            <a:r>
              <a:rPr lang="en-US" sz="13800" spc="-828">
                <a:solidFill>
                  <a:srgbClr val="479E55"/>
                </a:solidFill>
                <a:latin typeface="Rubik One"/>
                <a:ea typeface="Rubik One"/>
                <a:cs typeface="Rubik One"/>
                <a:sym typeface="Rubik One"/>
              </a:rPr>
              <a:t>LESSONS</a:t>
            </a:r>
          </a:p>
          <a:p>
            <a:pPr algn="just">
              <a:lnSpc>
                <a:spcPts val="10350"/>
              </a:lnSpc>
            </a:pPr>
            <a:r>
              <a:rPr lang="en-US" sz="13800" spc="-828">
                <a:solidFill>
                  <a:srgbClr val="479E55"/>
                </a:solidFill>
                <a:latin typeface="Rubik One"/>
                <a:ea typeface="Rubik One"/>
                <a:cs typeface="Rubik One"/>
                <a:sym typeface="Rubik One"/>
              </a:rPr>
              <a:t>LEARNED</a:t>
            </a:r>
          </a:p>
        </p:txBody>
      </p:sp>
      <p:sp>
        <p:nvSpPr>
          <p:cNvPr name="TextBox 3" id="3"/>
          <p:cNvSpPr txBox="true"/>
          <p:nvPr/>
        </p:nvSpPr>
        <p:spPr>
          <a:xfrm rot="0">
            <a:off x="5322023" y="1545093"/>
            <a:ext cx="10212777" cy="7138128"/>
          </a:xfrm>
          <a:prstGeom prst="rect">
            <a:avLst/>
          </a:prstGeom>
        </p:spPr>
        <p:txBody>
          <a:bodyPr anchor="t" rtlCol="false" tIns="0" lIns="0" bIns="0" rIns="0">
            <a:spAutoFit/>
          </a:bodyPr>
          <a:lstStyle/>
          <a:p>
            <a:pPr algn="l" marL="549622" indent="-274811" lvl="1">
              <a:lnSpc>
                <a:spcPts val="3564"/>
              </a:lnSpc>
              <a:buFont typeface="Arial"/>
              <a:buChar char="•"/>
            </a:pPr>
            <a:r>
              <a:rPr lang="en-US" sz="2545" spc="-152">
                <a:solidFill>
                  <a:srgbClr val="479E55"/>
                </a:solidFill>
                <a:latin typeface="Rubik One"/>
                <a:ea typeface="Rubik One"/>
                <a:cs typeface="Rubik One"/>
                <a:sym typeface="Rubik One"/>
              </a:rPr>
              <a:t>TECHNICAL LESSONS</a:t>
            </a:r>
          </a:p>
          <a:p>
            <a:pPr algn="l" marL="1099244" indent="-366415" lvl="2">
              <a:lnSpc>
                <a:spcPts val="3564"/>
              </a:lnSpc>
              <a:buFont typeface="Arial"/>
              <a:buChar char="⚬"/>
            </a:pPr>
            <a:r>
              <a:rPr lang="en-US" sz="2545" spc="-152">
                <a:solidFill>
                  <a:srgbClr val="0B0B0B"/>
                </a:solidFill>
                <a:latin typeface="Rubik One"/>
                <a:ea typeface="Rubik One"/>
                <a:cs typeface="Rubik One"/>
                <a:sym typeface="Rubik One"/>
              </a:rPr>
              <a:t>BREAK CODE INTO MODULAR SECTIONS, NOT ONE GIANT SCRIPT.</a:t>
            </a:r>
          </a:p>
          <a:p>
            <a:pPr algn="l" marL="1099244" indent="-366415" lvl="2">
              <a:lnSpc>
                <a:spcPts val="3564"/>
              </a:lnSpc>
              <a:buFont typeface="Arial"/>
              <a:buChar char="⚬"/>
            </a:pPr>
            <a:r>
              <a:rPr lang="en-US" sz="2545" spc="-152">
                <a:solidFill>
                  <a:srgbClr val="0B0B0B"/>
                </a:solidFill>
                <a:latin typeface="Rubik One"/>
                <a:ea typeface="Rubik One"/>
                <a:cs typeface="Rubik One"/>
                <a:sym typeface="Rubik One"/>
              </a:rPr>
              <a:t>WORK WITH THE DOM SAFELY – DON’T DELETE ELEMENTS YOU STILL NEED.</a:t>
            </a:r>
          </a:p>
          <a:p>
            <a:pPr algn="l" marL="1099244" indent="-366415" lvl="2">
              <a:lnSpc>
                <a:spcPts val="3564"/>
              </a:lnSpc>
              <a:buFont typeface="Arial"/>
              <a:buChar char="⚬"/>
            </a:pPr>
            <a:r>
              <a:rPr lang="en-US" sz="2545" spc="-152">
                <a:solidFill>
                  <a:srgbClr val="0B0B0B"/>
                </a:solidFill>
                <a:latin typeface="Rubik One"/>
                <a:ea typeface="Rubik One"/>
                <a:cs typeface="Rubik One"/>
                <a:sym typeface="Rubik One"/>
              </a:rPr>
              <a:t>HANDLE ASYNC FETCH CALLS WITH PROPER ERROR HANDLING AND USER FEEDBACK.</a:t>
            </a:r>
          </a:p>
          <a:p>
            <a:pPr algn="l" marL="1099244" indent="-366415" lvl="2">
              <a:lnSpc>
                <a:spcPts val="3564"/>
              </a:lnSpc>
              <a:buFont typeface="Arial"/>
              <a:buChar char="⚬"/>
            </a:pPr>
            <a:r>
              <a:rPr lang="en-US" sz="2545" spc="-152">
                <a:solidFill>
                  <a:srgbClr val="0B0B0B"/>
                </a:solidFill>
                <a:latin typeface="Rubik One"/>
                <a:ea typeface="Rubik One"/>
                <a:cs typeface="Rubik One"/>
                <a:sym typeface="Rubik One"/>
              </a:rPr>
              <a:t>APPLY BASIC ACCESSIBILITY (ARIA ATTRIBUTES, HIDDEN, FOCUS ON MESSAGES).</a:t>
            </a:r>
          </a:p>
          <a:p>
            <a:pPr algn="l" marL="549622" indent="-274811" lvl="1">
              <a:lnSpc>
                <a:spcPts val="3564"/>
              </a:lnSpc>
              <a:buFont typeface="Arial"/>
              <a:buChar char="•"/>
            </a:pPr>
            <a:r>
              <a:rPr lang="en-US" sz="2545" spc="-152">
                <a:solidFill>
                  <a:srgbClr val="479E55"/>
                </a:solidFill>
                <a:latin typeface="Rubik One"/>
                <a:ea typeface="Rubik One"/>
                <a:cs typeface="Rubik One"/>
                <a:sym typeface="Rubik One"/>
              </a:rPr>
              <a:t>AI &amp; WORKFLOW LESSONS</a:t>
            </a:r>
          </a:p>
          <a:p>
            <a:pPr algn="l" marL="1099244" indent="-366415" lvl="2">
              <a:lnSpc>
                <a:spcPts val="3564"/>
              </a:lnSpc>
              <a:spcBef>
                <a:spcPct val="0"/>
              </a:spcBef>
              <a:buFont typeface="Arial"/>
              <a:buChar char="⚬"/>
            </a:pPr>
            <a:r>
              <a:rPr lang="en-US" sz="2545" spc="-152">
                <a:solidFill>
                  <a:srgbClr val="0B0B0B"/>
                </a:solidFill>
                <a:latin typeface="Rubik One"/>
                <a:ea typeface="Rubik One"/>
                <a:cs typeface="Rubik One"/>
                <a:sym typeface="Rubik One"/>
              </a:rPr>
              <a:t>AI IS GREAT FOR IDEAS, REFACTORING, AND EXAMPLES, BUT MUST BE VERIFIED AND TESTED.</a:t>
            </a:r>
          </a:p>
          <a:p>
            <a:pPr algn="l" marL="1099244" indent="-366415" lvl="2">
              <a:lnSpc>
                <a:spcPts val="3564"/>
              </a:lnSpc>
              <a:spcBef>
                <a:spcPct val="0"/>
              </a:spcBef>
              <a:buFont typeface="Arial"/>
              <a:buChar char="⚬"/>
            </a:pPr>
            <a:r>
              <a:rPr lang="en-US" sz="2545" spc="-152">
                <a:solidFill>
                  <a:srgbClr val="0B0B0B"/>
                </a:solidFill>
                <a:latin typeface="Rubik One"/>
                <a:ea typeface="Rubik One"/>
                <a:cs typeface="Rubik One"/>
                <a:sym typeface="Rubik One"/>
              </a:rPr>
              <a:t>CLEAR PROMPTS LEAD TO BETTER, MORE ACCURATE SUGGESTIONS.</a:t>
            </a:r>
          </a:p>
          <a:p>
            <a:pPr algn="l" marL="1099244" indent="-366415" lvl="2">
              <a:lnSpc>
                <a:spcPts val="3564"/>
              </a:lnSpc>
              <a:spcBef>
                <a:spcPct val="0"/>
              </a:spcBef>
              <a:buFont typeface="Arial"/>
              <a:buChar char="⚬"/>
            </a:pPr>
            <a:r>
              <a:rPr lang="en-US" sz="2545" spc="-152">
                <a:solidFill>
                  <a:srgbClr val="0B0B0B"/>
                </a:solidFill>
                <a:latin typeface="Rubik One"/>
                <a:ea typeface="Rubik One"/>
                <a:cs typeface="Rubik One"/>
                <a:sym typeface="Rubik One"/>
              </a:rPr>
              <a:t>I LEARNED TO ADAPT AI OUTPUT TO MY OWN STYLE AND EXISTING CODE STRUCTURE.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B0B0B"/>
        </a:solidFill>
      </p:bgPr>
    </p:bg>
    <p:spTree>
      <p:nvGrpSpPr>
        <p:cNvPr id="1" name=""/>
        <p:cNvGrpSpPr/>
        <p:nvPr/>
      </p:nvGrpSpPr>
      <p:grpSpPr>
        <a:xfrm>
          <a:off x="0" y="0"/>
          <a:ext cx="0" cy="0"/>
          <a:chOff x="0" y="0"/>
          <a:chExt cx="0" cy="0"/>
        </a:xfrm>
      </p:grpSpPr>
      <p:sp>
        <p:nvSpPr>
          <p:cNvPr name="TextBox 2" id="2"/>
          <p:cNvSpPr txBox="true"/>
          <p:nvPr/>
        </p:nvSpPr>
        <p:spPr>
          <a:xfrm rot="0">
            <a:off x="4569048" y="1466850"/>
            <a:ext cx="9149905" cy="1076324"/>
          </a:xfrm>
          <a:prstGeom prst="rect">
            <a:avLst/>
          </a:prstGeom>
        </p:spPr>
        <p:txBody>
          <a:bodyPr anchor="t" rtlCol="false" tIns="0" lIns="0" bIns="0" rIns="0">
            <a:spAutoFit/>
          </a:bodyPr>
          <a:lstStyle/>
          <a:p>
            <a:pPr algn="ctr">
              <a:lnSpc>
                <a:spcPts val="7499"/>
              </a:lnSpc>
            </a:pPr>
            <a:r>
              <a:rPr lang="en-US" sz="9999" spc="-599">
                <a:solidFill>
                  <a:srgbClr val="FEFAE0"/>
                </a:solidFill>
                <a:latin typeface="Rubik One"/>
                <a:ea typeface="Rubik One"/>
                <a:cs typeface="Rubik One"/>
                <a:sym typeface="Rubik One"/>
              </a:rPr>
              <a:t>OUTCOMES</a:t>
            </a:r>
          </a:p>
        </p:txBody>
      </p:sp>
      <p:sp>
        <p:nvSpPr>
          <p:cNvPr name="TextBox 3" id="3"/>
          <p:cNvSpPr txBox="true"/>
          <p:nvPr/>
        </p:nvSpPr>
        <p:spPr>
          <a:xfrm rot="0">
            <a:off x="674215" y="5581650"/>
            <a:ext cx="16939571" cy="1076324"/>
          </a:xfrm>
          <a:prstGeom prst="rect">
            <a:avLst/>
          </a:prstGeom>
        </p:spPr>
        <p:txBody>
          <a:bodyPr anchor="t" rtlCol="false" tIns="0" lIns="0" bIns="0" rIns="0">
            <a:spAutoFit/>
          </a:bodyPr>
          <a:lstStyle/>
          <a:p>
            <a:pPr algn="ctr">
              <a:lnSpc>
                <a:spcPts val="7499"/>
              </a:lnSpc>
            </a:pPr>
            <a:r>
              <a:rPr lang="en-US" sz="9999" spc="-599">
                <a:solidFill>
                  <a:srgbClr val="FEFAE0"/>
                </a:solidFill>
                <a:latin typeface="Rubik One"/>
                <a:ea typeface="Rubik One"/>
                <a:cs typeface="Rubik One"/>
                <a:sym typeface="Rubik One"/>
              </a:rPr>
              <a:t>FUTURE IMPROVMENTS</a:t>
            </a:r>
          </a:p>
        </p:txBody>
      </p:sp>
      <p:sp>
        <p:nvSpPr>
          <p:cNvPr name="TextBox 4" id="4"/>
          <p:cNvSpPr txBox="true"/>
          <p:nvPr/>
        </p:nvSpPr>
        <p:spPr>
          <a:xfrm rot="0">
            <a:off x="2637386" y="2735773"/>
            <a:ext cx="3979993" cy="2148453"/>
          </a:xfrm>
          <a:prstGeom prst="rect">
            <a:avLst/>
          </a:prstGeom>
        </p:spPr>
        <p:txBody>
          <a:bodyPr anchor="t" rtlCol="false" tIns="0" lIns="0" bIns="0" rIns="0">
            <a:spAutoFit/>
          </a:bodyPr>
          <a:lstStyle/>
          <a:p>
            <a:pPr algn="l">
              <a:lnSpc>
                <a:spcPts val="3381"/>
              </a:lnSpc>
            </a:pPr>
            <a:r>
              <a:rPr lang="en-US" sz="2415" b="true">
                <a:solidFill>
                  <a:srgbClr val="FEFAE0"/>
                </a:solidFill>
                <a:latin typeface="Poppins Bold"/>
                <a:ea typeface="Poppins Bold"/>
                <a:cs typeface="Poppins Bold"/>
                <a:sym typeface="Poppins Bold"/>
              </a:rPr>
              <a:t>PRODUCTION-READY PORTFOLIO WEBSITE WITH REAL INTERACTIVITY AND A POLISHED UI.</a:t>
            </a:r>
          </a:p>
          <a:p>
            <a:pPr algn="l">
              <a:lnSpc>
                <a:spcPts val="3381"/>
              </a:lnSpc>
              <a:spcBef>
                <a:spcPct val="0"/>
              </a:spcBef>
            </a:pPr>
          </a:p>
        </p:txBody>
      </p:sp>
      <p:sp>
        <p:nvSpPr>
          <p:cNvPr name="TextBox 5" id="5"/>
          <p:cNvSpPr txBox="true"/>
          <p:nvPr/>
        </p:nvSpPr>
        <p:spPr>
          <a:xfrm rot="0">
            <a:off x="11788419" y="2735773"/>
            <a:ext cx="3861066" cy="2577078"/>
          </a:xfrm>
          <a:prstGeom prst="rect">
            <a:avLst/>
          </a:prstGeom>
        </p:spPr>
        <p:txBody>
          <a:bodyPr anchor="t" rtlCol="false" tIns="0" lIns="0" bIns="0" rIns="0">
            <a:spAutoFit/>
          </a:bodyPr>
          <a:lstStyle/>
          <a:p>
            <a:pPr algn="l">
              <a:lnSpc>
                <a:spcPts val="3381"/>
              </a:lnSpc>
              <a:spcBef>
                <a:spcPct val="0"/>
              </a:spcBef>
            </a:pPr>
            <a:r>
              <a:rPr lang="en-US" b="true" sz="2415">
                <a:solidFill>
                  <a:srgbClr val="FEFAE0"/>
                </a:solidFill>
                <a:latin typeface="Poppins Bold"/>
                <a:ea typeface="Poppins Bold"/>
                <a:cs typeface="Poppins Bold"/>
                <a:sym typeface="Poppins Bold"/>
              </a:rPr>
              <a:t>A SINGLE, MAINTAINABLE CODEBASE (HTML + CSS + JS) THAT I CAN KEEP IMPROVING AFTER THE COURSE.</a:t>
            </a:r>
          </a:p>
          <a:p>
            <a:pPr algn="l">
              <a:lnSpc>
                <a:spcPts val="3381"/>
              </a:lnSpc>
              <a:spcBef>
                <a:spcPct val="0"/>
              </a:spcBef>
            </a:pPr>
          </a:p>
        </p:txBody>
      </p:sp>
      <p:sp>
        <p:nvSpPr>
          <p:cNvPr name="TextBox 6" id="6"/>
          <p:cNvSpPr txBox="true"/>
          <p:nvPr/>
        </p:nvSpPr>
        <p:spPr>
          <a:xfrm rot="0">
            <a:off x="7065054" y="2735773"/>
            <a:ext cx="4277308" cy="2577078"/>
          </a:xfrm>
          <a:prstGeom prst="rect">
            <a:avLst/>
          </a:prstGeom>
        </p:spPr>
        <p:txBody>
          <a:bodyPr anchor="t" rtlCol="false" tIns="0" lIns="0" bIns="0" rIns="0">
            <a:spAutoFit/>
          </a:bodyPr>
          <a:lstStyle/>
          <a:p>
            <a:pPr algn="l">
              <a:lnSpc>
                <a:spcPts val="3381"/>
              </a:lnSpc>
              <a:spcBef>
                <a:spcPct val="0"/>
              </a:spcBef>
            </a:pPr>
            <a:r>
              <a:rPr lang="en-US" b="true" sz="2415">
                <a:solidFill>
                  <a:srgbClr val="FEFAE0"/>
                </a:solidFill>
                <a:latin typeface="Poppins Bold"/>
                <a:ea typeface="Poppins Bold"/>
                <a:cs typeface="Poppins Bold"/>
                <a:sym typeface="Poppins Bold"/>
              </a:rPr>
              <a:t>R</a:t>
            </a:r>
            <a:r>
              <a:rPr lang="en-US" b="true" sz="2415">
                <a:solidFill>
                  <a:srgbClr val="FEFAE0"/>
                </a:solidFill>
                <a:latin typeface="Poppins Bold"/>
                <a:ea typeface="Poppins Bold"/>
                <a:cs typeface="Poppins Bold"/>
                <a:sym typeface="Poppins Bold"/>
              </a:rPr>
              <a:t>ESPONSIVE DESIGN, DOM MANIPULATION, FETCH API CALLS, AI-ASSISTED DEVELOPMENT, AND CLEAR DOCUMENTATION.</a:t>
            </a:r>
          </a:p>
          <a:p>
            <a:pPr algn="l">
              <a:lnSpc>
                <a:spcPts val="3381"/>
              </a:lnSpc>
              <a:spcBef>
                <a:spcPct val="0"/>
              </a:spcBef>
            </a:pPr>
          </a:p>
        </p:txBody>
      </p:sp>
      <p:sp>
        <p:nvSpPr>
          <p:cNvPr name="TextBox 7" id="7"/>
          <p:cNvSpPr txBox="true"/>
          <p:nvPr/>
        </p:nvSpPr>
        <p:spPr>
          <a:xfrm rot="0">
            <a:off x="2637386" y="6848474"/>
            <a:ext cx="3232506" cy="2148332"/>
          </a:xfrm>
          <a:prstGeom prst="rect">
            <a:avLst/>
          </a:prstGeom>
        </p:spPr>
        <p:txBody>
          <a:bodyPr anchor="t" rtlCol="false" tIns="0" lIns="0" bIns="0" rIns="0">
            <a:spAutoFit/>
          </a:bodyPr>
          <a:lstStyle/>
          <a:p>
            <a:pPr algn="l">
              <a:lnSpc>
                <a:spcPts val="3388"/>
              </a:lnSpc>
              <a:spcBef>
                <a:spcPct val="0"/>
              </a:spcBef>
            </a:pPr>
            <a:r>
              <a:rPr lang="en-US" b="true" sz="2420">
                <a:solidFill>
                  <a:srgbClr val="FEFAE0"/>
                </a:solidFill>
                <a:latin typeface="Poppins Bold"/>
                <a:ea typeface="Poppins Bold"/>
                <a:cs typeface="Poppins Bold"/>
                <a:sym typeface="Poppins Bold"/>
              </a:rPr>
              <a:t>ADD MORE PROJECTS AND TAGS AS MY PORTFOLIO AND EXPERIENCE GROW.</a:t>
            </a:r>
          </a:p>
        </p:txBody>
      </p:sp>
      <p:sp>
        <p:nvSpPr>
          <p:cNvPr name="TextBox 8" id="8"/>
          <p:cNvSpPr txBox="true"/>
          <p:nvPr/>
        </p:nvSpPr>
        <p:spPr>
          <a:xfrm rot="0">
            <a:off x="7065054" y="6848474"/>
            <a:ext cx="4277308" cy="2576957"/>
          </a:xfrm>
          <a:prstGeom prst="rect">
            <a:avLst/>
          </a:prstGeom>
        </p:spPr>
        <p:txBody>
          <a:bodyPr anchor="t" rtlCol="false" tIns="0" lIns="0" bIns="0" rIns="0">
            <a:spAutoFit/>
          </a:bodyPr>
          <a:lstStyle/>
          <a:p>
            <a:pPr algn="l">
              <a:lnSpc>
                <a:spcPts val="3388"/>
              </a:lnSpc>
              <a:spcBef>
                <a:spcPct val="0"/>
              </a:spcBef>
            </a:pPr>
            <a:r>
              <a:rPr lang="en-US" b="true" sz="2420">
                <a:solidFill>
                  <a:srgbClr val="FEFAE0"/>
                </a:solidFill>
                <a:latin typeface="Poppins Bold"/>
                <a:ea typeface="Poppins Bold"/>
                <a:cs typeface="Poppins Bold"/>
                <a:sym typeface="Poppins Bold"/>
              </a:rPr>
              <a:t>I</a:t>
            </a:r>
            <a:r>
              <a:rPr lang="en-US" b="true" sz="2420">
                <a:solidFill>
                  <a:srgbClr val="FEFAE0"/>
                </a:solidFill>
                <a:latin typeface="Poppins Bold"/>
                <a:ea typeface="Poppins Bold"/>
                <a:cs typeface="Poppins Bold"/>
                <a:sym typeface="Poppins Bold"/>
              </a:rPr>
              <a:t>MPROVE ACCESSIBILITY AND PERFORMANCE, INCLUDING BETTER KEYBOARD SUPPORT AND LIGHTER ASSETS.</a:t>
            </a:r>
          </a:p>
          <a:p>
            <a:pPr algn="l">
              <a:lnSpc>
                <a:spcPts val="3388"/>
              </a:lnSpc>
              <a:spcBef>
                <a:spcPct val="0"/>
              </a:spcBef>
            </a:pPr>
          </a:p>
        </p:txBody>
      </p:sp>
      <p:sp>
        <p:nvSpPr>
          <p:cNvPr name="TextBox 9" id="9"/>
          <p:cNvSpPr txBox="true"/>
          <p:nvPr/>
        </p:nvSpPr>
        <p:spPr>
          <a:xfrm rot="0">
            <a:off x="11788419" y="6848474"/>
            <a:ext cx="3861066" cy="2576957"/>
          </a:xfrm>
          <a:prstGeom prst="rect">
            <a:avLst/>
          </a:prstGeom>
        </p:spPr>
        <p:txBody>
          <a:bodyPr anchor="t" rtlCol="false" tIns="0" lIns="0" bIns="0" rIns="0">
            <a:spAutoFit/>
          </a:bodyPr>
          <a:lstStyle/>
          <a:p>
            <a:pPr algn="l">
              <a:lnSpc>
                <a:spcPts val="3388"/>
              </a:lnSpc>
              <a:spcBef>
                <a:spcPct val="0"/>
              </a:spcBef>
            </a:pPr>
            <a:r>
              <a:rPr lang="en-US" b="true" sz="2420">
                <a:solidFill>
                  <a:srgbClr val="FEFAE0"/>
                </a:solidFill>
                <a:latin typeface="Poppins Bold"/>
                <a:ea typeface="Poppins Bold"/>
                <a:cs typeface="Poppins Bold"/>
                <a:sym typeface="Poppins Bold"/>
              </a:rPr>
              <a:t>EXPL</a:t>
            </a:r>
            <a:r>
              <a:rPr lang="en-US" b="true" sz="2420">
                <a:solidFill>
                  <a:srgbClr val="FEFAE0"/>
                </a:solidFill>
                <a:latin typeface="Poppins Bold"/>
                <a:ea typeface="Poppins Bold"/>
                <a:cs typeface="Poppins Bold"/>
                <a:sym typeface="Poppins Bold"/>
              </a:rPr>
              <a:t>ORE MIGRATING TO A FRAMEWORK LIKE REACT OR NEXT.JS PRESERVING THE CURRENT DESIGN.</a:t>
            </a:r>
          </a:p>
          <a:p>
            <a:pPr algn="l">
              <a:lnSpc>
                <a:spcPts val="3388"/>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479E55"/>
        </a:solidFill>
      </p:bgPr>
    </p:bg>
    <p:spTree>
      <p:nvGrpSpPr>
        <p:cNvPr id="1" name=""/>
        <p:cNvGrpSpPr/>
        <p:nvPr/>
      </p:nvGrpSpPr>
      <p:grpSpPr>
        <a:xfrm>
          <a:off x="0" y="0"/>
          <a:ext cx="0" cy="0"/>
          <a:chOff x="0" y="0"/>
          <a:chExt cx="0" cy="0"/>
        </a:xfrm>
      </p:grpSpPr>
      <p:sp>
        <p:nvSpPr>
          <p:cNvPr name="TextBox 2" id="2"/>
          <p:cNvSpPr txBox="true"/>
          <p:nvPr/>
        </p:nvSpPr>
        <p:spPr>
          <a:xfrm rot="0">
            <a:off x="1028700" y="8169611"/>
            <a:ext cx="4145303" cy="1500659"/>
          </a:xfrm>
          <a:prstGeom prst="rect">
            <a:avLst/>
          </a:prstGeom>
        </p:spPr>
        <p:txBody>
          <a:bodyPr anchor="t" rtlCol="false" tIns="0" lIns="0" bIns="0" rIns="0">
            <a:spAutoFit/>
          </a:bodyPr>
          <a:lstStyle/>
          <a:p>
            <a:pPr algn="l">
              <a:lnSpc>
                <a:spcPts val="3911"/>
              </a:lnSpc>
            </a:pPr>
            <a:r>
              <a:rPr lang="en-US" sz="2793">
                <a:solidFill>
                  <a:srgbClr val="FEFAE0"/>
                </a:solidFill>
                <a:latin typeface="Poppins"/>
                <a:ea typeface="Poppins"/>
                <a:cs typeface="Poppins"/>
                <a:sym typeface="Poppins"/>
              </a:rPr>
              <a:t>RAGHAD ALMAGHRABI</a:t>
            </a:r>
          </a:p>
          <a:p>
            <a:pPr algn="l">
              <a:lnSpc>
                <a:spcPts val="3911"/>
              </a:lnSpc>
            </a:pPr>
            <a:r>
              <a:rPr lang="en-US" sz="2793">
                <a:solidFill>
                  <a:srgbClr val="FEFAE0"/>
                </a:solidFill>
                <a:latin typeface="Poppins"/>
                <a:ea typeface="Poppins"/>
                <a:cs typeface="Poppins"/>
                <a:sym typeface="Poppins"/>
              </a:rPr>
              <a:t>202156390</a:t>
            </a:r>
          </a:p>
          <a:p>
            <a:pPr algn="l">
              <a:lnSpc>
                <a:spcPts val="3911"/>
              </a:lnSpc>
              <a:spcBef>
                <a:spcPct val="0"/>
              </a:spcBef>
            </a:pPr>
            <a:r>
              <a:rPr lang="en-US" sz="2793">
                <a:solidFill>
                  <a:srgbClr val="FEFAE0"/>
                </a:solidFill>
                <a:latin typeface="Poppins"/>
                <a:ea typeface="Poppins"/>
                <a:cs typeface="Poppins"/>
                <a:sym typeface="Poppins"/>
              </a:rPr>
              <a:t>SWE363 </a:t>
            </a:r>
          </a:p>
        </p:txBody>
      </p:sp>
      <p:sp>
        <p:nvSpPr>
          <p:cNvPr name="TextBox 3" id="3"/>
          <p:cNvSpPr txBox="true"/>
          <p:nvPr/>
        </p:nvSpPr>
        <p:spPr>
          <a:xfrm rot="0">
            <a:off x="553976" y="4322575"/>
            <a:ext cx="17180047" cy="2413774"/>
          </a:xfrm>
          <a:prstGeom prst="rect">
            <a:avLst/>
          </a:prstGeom>
        </p:spPr>
        <p:txBody>
          <a:bodyPr anchor="t" rtlCol="false" tIns="0" lIns="0" bIns="0" rIns="0">
            <a:spAutoFit/>
          </a:bodyPr>
          <a:lstStyle/>
          <a:p>
            <a:pPr algn="ctr">
              <a:lnSpc>
                <a:spcPts val="16559"/>
              </a:lnSpc>
            </a:pPr>
            <a:r>
              <a:rPr lang="en-US" sz="22079" spc="-1324">
                <a:solidFill>
                  <a:srgbClr val="FEFAE0"/>
                </a:solidFill>
                <a:latin typeface="Rubik One"/>
                <a:ea typeface="Rubik One"/>
                <a:cs typeface="Rubik One"/>
                <a:sym typeface="Rubik One"/>
              </a:rPr>
              <a:t>THANK YOU</a:t>
            </a:r>
          </a:p>
        </p:txBody>
      </p:sp>
      <p:sp>
        <p:nvSpPr>
          <p:cNvPr name="Freeform 4" id="4"/>
          <p:cNvSpPr/>
          <p:nvPr/>
        </p:nvSpPr>
        <p:spPr>
          <a:xfrm flipH="false" flipV="false" rot="0">
            <a:off x="5839547" y="2031664"/>
            <a:ext cx="6608907" cy="6223673"/>
          </a:xfrm>
          <a:custGeom>
            <a:avLst/>
            <a:gdLst/>
            <a:ahLst/>
            <a:cxnLst/>
            <a:rect r="r" b="b" t="t" l="l"/>
            <a:pathLst>
              <a:path h="6223673" w="6608907">
                <a:moveTo>
                  <a:pt x="0" y="0"/>
                </a:moveTo>
                <a:lnTo>
                  <a:pt x="6608906" y="0"/>
                </a:lnTo>
                <a:lnTo>
                  <a:pt x="6608906" y="6223672"/>
                </a:lnTo>
                <a:lnTo>
                  <a:pt x="0" y="6223672"/>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DAG7AmIVvLE</dc:identifier>
  <dcterms:modified xsi:type="dcterms:W3CDTF">2011-08-01T06:04:30Z</dcterms:modified>
  <cp:revision>1</cp:revision>
  <dc:title> Portfolio Presentation Slides</dc:title>
</cp:coreProperties>
</file>